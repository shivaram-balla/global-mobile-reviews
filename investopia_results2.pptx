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Naive Bayes</c:v>
                  </c:pt>
                  <c:pt idx="1">
                    <c:v>Log. Reg.</c:v>
                  </c:pt>
                  <c:pt idx="2">
                    <c:v>SVM</c:v>
                  </c:pt>
                  <c:pt idx="3">
                    <c:v>Random Forest</c:v>
                  </c:pt>
                  <c:pt idx="4">
                    <c:v>SVM+Spec</c:v>
                  </c:pt>
                  <c:pt idx="5">
                    <c:v>RF+Spec</c:v>
                  </c:pt>
                  <c:pt idx="6">
                    <c:v>BERT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72.1</c:v>
                </c:pt>
                <c:pt idx="1">
                  <c:v>79.4</c:v>
                </c:pt>
                <c:pt idx="2">
                  <c:v>84.2</c:v>
                </c:pt>
                <c:pt idx="3">
                  <c:v>83.7</c:v>
                </c:pt>
                <c:pt idx="4">
                  <c:v>85.9</c:v>
                </c:pt>
                <c:pt idx="5">
                  <c:v>85.3</c:v>
                </c:pt>
                <c:pt idx="6">
                  <c:v>91.4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(×100)</c:v>
                </c:pt>
              </c:strCache>
            </c:strRef>
          </c:tx>
          <c:spPr>
            <a:solidFill>
              <a:srgbClr val="1780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Naive Bayes</c:v>
                  </c:pt>
                  <c:pt idx="1">
                    <c:v>Log. Reg.</c:v>
                  </c:pt>
                  <c:pt idx="2">
                    <c:v>SVM</c:v>
                  </c:pt>
                  <c:pt idx="3">
                    <c:v>Random Forest</c:v>
                  </c:pt>
                  <c:pt idx="4">
                    <c:v>SVM+Spec</c:v>
                  </c:pt>
                  <c:pt idx="5">
                    <c:v>RF+Spec</c:v>
                  </c:pt>
                  <c:pt idx="6">
                    <c:v>BERT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69.8</c:v>
                </c:pt>
                <c:pt idx="1">
                  <c:v>77.3</c:v>
                </c:pt>
                <c:pt idx="2">
                  <c:v>82.1</c:v>
                </c:pt>
                <c:pt idx="3">
                  <c:v>81.6</c:v>
                </c:pt>
                <c:pt idx="4">
                  <c:v>83.9</c:v>
                </c:pt>
                <c:pt idx="5">
                  <c:v>83.3</c:v>
                </c:pt>
                <c:pt idx="6">
                  <c:v>90.3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864"/>
                </a:solidFill>
                <a:latin typeface="Arial"/>
              </a:rPr>
              <a:t>Per-Class F1 Score: SVM vs BERT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1-star</c:v>
                  </c:pt>
                  <c:pt idx="1">
                    <c:v>2-star</c:v>
                  </c:pt>
                  <c:pt idx="2">
                    <c:v>3-star</c:v>
                  </c:pt>
                  <c:pt idx="3">
                    <c:v>4-star</c:v>
                  </c:pt>
                  <c:pt idx="4">
                    <c:v>5-star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0.88</c:v>
                </c:pt>
                <c:pt idx="1">
                  <c:v>0.7</c:v>
                </c:pt>
                <c:pt idx="2">
                  <c:v>0.61</c:v>
                </c:pt>
                <c:pt idx="3">
                  <c:v>0.79</c:v>
                </c:pt>
                <c:pt idx="4">
                  <c:v>0.91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BERT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1-star</c:v>
                  </c:pt>
                  <c:pt idx="1">
                    <c:v>2-star</c:v>
                  </c:pt>
                  <c:pt idx="2">
                    <c:v>3-star</c:v>
                  </c:pt>
                  <c:pt idx="3">
                    <c:v>4-star</c:v>
                  </c:pt>
                  <c:pt idx="4">
                    <c:v>5-star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0.93</c:v>
                </c:pt>
                <c:pt idx="1">
                  <c:v>0.83</c:v>
                </c:pt>
                <c:pt idx="2">
                  <c:v>0.85</c:v>
                </c:pt>
                <c:pt idx="3">
                  <c:v>0.89</c:v>
                </c:pt>
                <c:pt idx="4">
                  <c:v>0.95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Results — Model Performance Comparison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685800"/>
            <a:ext cx="1737360" cy="457200"/>
          </a:xfrm>
          <a:prstGeom prst="rect">
            <a:avLst/>
          </a:prstGeom>
          <a:solidFill>
            <a:srgbClr val="C6EFCE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685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BEST: 91.4%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 Grouped bar chart comparing classification accuracy and macro F1-score (×100) across all seven evaluated model configurations on the five-class sentiment task.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Results — Per-Class F1 Score Analysis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777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188720"/>
            <a:ext cx="30175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1188720"/>
            <a:ext cx="73152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2161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3-star F1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0.612 (SVM)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938528"/>
            <a:ext cx="30175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938528"/>
            <a:ext cx="73152" cy="640080"/>
          </a:xfrm>
          <a:prstGeom prst="rect">
            <a:avLst/>
          </a:prstGeom>
          <a:solidFill>
            <a:srgbClr val="17808C"/>
          </a:solidFill>
          <a:ln w="12700">
            <a:solidFill>
              <a:srgbClr val="1780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965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Overall Acc.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80760" y="22128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+7.2pp over SVM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0" y="2688336"/>
            <a:ext cx="30175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0" y="2688336"/>
            <a:ext cx="73152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715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Fix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9626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+4.1pp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Weighted vs unweighted F1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0" y="3438144"/>
            <a:ext cx="30175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3438144"/>
            <a:ext cx="73152" cy="6400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465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Features Gain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0760" y="37124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+1.7pp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SVM with spec features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5. Per-class F1-score comparison between SVM (best classical) and fine-tuned BERT on all five rating categories. BERT outperforms SVM most significantly on the neutral 3-star class (+23.5 percentage points).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</dc:title>
  <dc:subject>PptxGenJS Presentation</dc:subject>
  <dc:creator>PptxGenJS</dc:creator>
  <cp:lastModifiedBy>PptxGenJS</cp:lastModifiedBy>
  <cp:revision>1</cp:revision>
  <dcterms:created xsi:type="dcterms:W3CDTF">2026-05-24T20:25:46Z</dcterms:created>
  <dcterms:modified xsi:type="dcterms:W3CDTF">2026-05-24T20:25:46Z</dcterms:modified>
</cp:coreProperties>
</file>