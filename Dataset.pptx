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3864"/>
                </a:solidFill>
                <a:latin typeface="Arial"/>
              </a:rPr>
              <a:t>Star Rating Distribution (% of 50,000+ reviews)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 (%)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36C0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F8F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7562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7808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1-star</c:v>
                  </c:pt>
                  <c:pt idx="1">
                    <c:v>2-star</c:v>
                  </c:pt>
                  <c:pt idx="2">
                    <c:v>3-star</c:v>
                  </c:pt>
                  <c:pt idx="3">
                    <c:v>4-star</c:v>
                  </c:pt>
                  <c:pt idx="4">
                    <c:v>5-star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5</c:v>
                </c:pt>
                <c:pt idx="2">
                  <c:v>8.7</c:v>
                </c:pt>
                <c:pt idx="3">
                  <c:v>21</c:v>
                </c:pt>
                <c:pt idx="4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Reviews: Sentiment &amp; Specification Dataset (2025 Edition)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17808C"/>
          </a:solidFill>
          <a:ln w="12700">
            <a:solidFill>
              <a:srgbClr val="1780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mohankrishnathalla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192024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417320"/>
            <a:ext cx="1920240" cy="1005840"/>
          </a:xfrm>
          <a:prstGeom prst="rect">
            <a:avLst/>
          </a:prstGeom>
          <a:solidFill>
            <a:srgbClr val="17808C"/>
          </a:solidFill>
          <a:ln w="12700">
            <a:solidFill>
              <a:srgbClr val="1780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0592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417320"/>
            <a:ext cx="1920240" cy="100584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26864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03136" y="1417320"/>
            <a:ext cx="1920240" cy="100584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03136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03136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Edition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2606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FEATURES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3931920" cy="292608"/>
          </a:xfrm>
          <a:prstGeom prst="rect">
            <a:avLst/>
          </a:prstGeom>
          <a:solidFill>
            <a:srgbClr val="BDD7EE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9718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review_text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319272"/>
            <a:ext cx="3931920" cy="292608"/>
          </a:xfrm>
          <a:prstGeom prst="rect">
            <a:avLst/>
          </a:prstGeom>
          <a:solidFill>
            <a:srgbClr val="BDD7EE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3192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review_title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666744"/>
            <a:ext cx="3931920" cy="292608"/>
          </a:xfrm>
          <a:prstGeom prst="rect">
            <a:avLst/>
          </a:prstGeom>
          <a:solidFill>
            <a:srgbClr val="BDD7EE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6667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verified_purchase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014216"/>
            <a:ext cx="3931920" cy="292608"/>
          </a:xfrm>
          <a:prstGeom prst="rect">
            <a:avLst/>
          </a:prstGeom>
          <a:solidFill>
            <a:srgbClr val="BDD7EE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014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helpful_votes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2606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FEATURES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971800"/>
            <a:ext cx="4114800" cy="201168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97180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209544"/>
            <a:ext cx="4114800" cy="201168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2095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ram_gb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447288"/>
            <a:ext cx="4114800" cy="201168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44728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battery_mah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685032"/>
            <a:ext cx="4114800" cy="201168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68503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camera_mp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922776"/>
            <a:ext cx="4114800" cy="201168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92277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storage_gb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4160520"/>
            <a:ext cx="4114800" cy="201168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1605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display_inches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398264"/>
            <a:ext cx="4114800" cy="201168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39826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processor_type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4636008"/>
            <a:ext cx="4114800" cy="201168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6360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os_version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LABEL: star_rating (1 = very negative → 5 = very positive)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1. Overview of the Mobile Reviews Sentiment and Specification Dataset (2025 Edition) [14] showing dataset statistics, text and specification feature schema, and target label definition.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&amp; Brand Coverage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343400"/>
            <a:ext cx="5303520" cy="411480"/>
          </a:xfrm>
          <a:prstGeom prst="roundRect">
            <a:avLst>
              <a:gd name="adj" fmla="val 11111"/>
            </a:avLst>
          </a:prstGeom>
          <a:solidFill>
            <a:srgbClr val="FFCCCC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3434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58% of reviews are 5-star → class-weighted loss functions required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60720" y="822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COVERAGE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60720" y="1234440"/>
            <a:ext cx="1554480" cy="347472"/>
          </a:xfrm>
          <a:prstGeom prst="roundRect">
            <a:avLst>
              <a:gd name="adj" fmla="val 39474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12344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60720" y="1709928"/>
            <a:ext cx="1554480" cy="347472"/>
          </a:xfrm>
          <a:prstGeom prst="roundRect">
            <a:avLst>
              <a:gd name="adj" fmla="val 39474"/>
            </a:avLst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70992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2185416"/>
            <a:ext cx="1554480" cy="347472"/>
          </a:xfrm>
          <a:prstGeom prst="roundRect">
            <a:avLst>
              <a:gd name="adj" fmla="val 39474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218541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Xiaomi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60720" y="2660904"/>
            <a:ext cx="1554480" cy="347472"/>
          </a:xfrm>
          <a:prstGeom prst="roundRect">
            <a:avLst>
              <a:gd name="adj" fmla="val 39474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66090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OnePlus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760720" y="3136392"/>
            <a:ext cx="1554480" cy="347472"/>
          </a:xfrm>
          <a:prstGeom prst="roundRect">
            <a:avLst>
              <a:gd name="adj" fmla="val 39474"/>
            </a:avLst>
          </a:prstGeom>
          <a:solidFill>
            <a:srgbClr val="17808C"/>
          </a:solidFill>
          <a:ln w="12700">
            <a:solidFill>
              <a:srgbClr val="1780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13639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452360" y="1234440"/>
            <a:ext cx="1554480" cy="347472"/>
          </a:xfrm>
          <a:prstGeom prst="roundRect">
            <a:avLst>
              <a:gd name="adj" fmla="val 39474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12344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Motorola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452360" y="1709928"/>
            <a:ext cx="1554480" cy="347472"/>
          </a:xfrm>
          <a:prstGeom prst="roundRect">
            <a:avLst>
              <a:gd name="adj" fmla="val 39474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52360" y="170992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452360" y="2185416"/>
            <a:ext cx="1554480" cy="347472"/>
          </a:xfrm>
          <a:prstGeom prst="roundRect">
            <a:avLst>
              <a:gd name="adj" fmla="val 39474"/>
            </a:avLst>
          </a:prstGeom>
          <a:solidFill>
            <a:srgbClr val="17808C"/>
          </a:solidFill>
          <a:ln w="12700">
            <a:solidFill>
              <a:srgbClr val="17808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52360" y="218541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452360" y="2660904"/>
            <a:ext cx="1554480" cy="347472"/>
          </a:xfrm>
          <a:prstGeom prst="roundRect">
            <a:avLst>
              <a:gd name="adj" fmla="val 39474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52360" y="266090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452360" y="3136392"/>
            <a:ext cx="1554480" cy="347472"/>
          </a:xfrm>
          <a:prstGeom prst="roundRect">
            <a:avLst>
              <a:gd name="adj" fmla="val 39474"/>
            </a:avLst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52360" y="313639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 others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2. Class distribution across all five star-rating categories and brand coverage in the dataset. Note the heavy imbalance toward 5-star reviews (58%), which necessitates class-weighted training strategies.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Dataset - Mobile Reviews</dc:title>
  <dc:subject>PptxGenJS Presentation</dc:subject>
  <dc:creator>PptxGenJS</dc:creator>
  <cp:lastModifiedBy>PptxGenJS</cp:lastModifiedBy>
  <cp:revision>1</cp:revision>
  <dcterms:created xsi:type="dcterms:W3CDTF">2026-05-24T20:25:46Z</dcterms:created>
  <dcterms:modified xsi:type="dcterms:W3CDTF">2026-05-24T20:25:46Z</dcterms:modified>
</cp:coreProperties>
</file>